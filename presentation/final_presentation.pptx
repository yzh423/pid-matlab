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e2a1a7f8484d29" /><Relationship Type="http://schemas.openxmlformats.org/officeDocument/2006/relationships/extended-properties" Target="/docProps/app.xml" Id="R27e8726fbaa84e19" /><Relationship Type="http://schemas.openxmlformats.org/officeDocument/2006/relationships/officeDocument" Target="/ppt/presentation.xml" Id="Rd0f623af97a942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b9bc4654c944e7"/>
  </p:sldMasterIdLst>
  <p:notesMasterIdLst>
    <p:notesMasterId xmlns:r="http://schemas.openxmlformats.org/officeDocument/2006/relationships" r:id="R7a8fe9ef97c14eba"/>
  </p:notesMasterIdLst>
  <p:sldIdLst>
    <p:sldId xmlns:r="http://schemas.openxmlformats.org/officeDocument/2006/relationships" id="256" r:id="R6a7dd7a405d4414d"/>
    <p:sldId xmlns:r="http://schemas.openxmlformats.org/officeDocument/2006/relationships" id="257" r:id="R2fe18287bb68442a"/>
    <p:sldId xmlns:r="http://schemas.openxmlformats.org/officeDocument/2006/relationships" id="258" r:id="Rda1e3ec69fa74d61"/>
    <p:sldId xmlns:r="http://schemas.openxmlformats.org/officeDocument/2006/relationships" id="259" r:id="R2edd7c92662b425e"/>
    <p:sldId xmlns:r="http://schemas.openxmlformats.org/officeDocument/2006/relationships" id="260" r:id="R809a5314b63a45b7"/>
    <p:sldId xmlns:r="http://schemas.openxmlformats.org/officeDocument/2006/relationships" id="261" r:id="Rcc3b5365a80640ea"/>
    <p:sldId xmlns:r="http://schemas.openxmlformats.org/officeDocument/2006/relationships" id="262" r:id="Rad074e78a7004fab"/>
    <p:sldId xmlns:r="http://schemas.openxmlformats.org/officeDocument/2006/relationships" id="263" r:id="Refd1313425034fa7"/>
    <p:sldId xmlns:r="http://schemas.openxmlformats.org/officeDocument/2006/relationships" id="264" r:id="R140ca84f93e9419d"/>
    <p:sldId xmlns:r="http://schemas.openxmlformats.org/officeDocument/2006/relationships" id="265" r:id="Rb55acbfce7a441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5f84cce0f441f6" /><Relationship Type="http://schemas.openxmlformats.org/officeDocument/2006/relationships/slideMaster" Target="/ppt/slideMasters/slideMaster1.xml" Id="R91b9bc4654c944e7" /><Relationship Type="http://schemas.openxmlformats.org/officeDocument/2006/relationships/notesMaster" Target="/ppt/notesMasters/notesMaster1.xml" Id="R7a8fe9ef97c14eba" /><Relationship Type="http://schemas.openxmlformats.org/officeDocument/2006/relationships/presProps" Target="/ppt/presProps.xml" Id="Rf31faaa41f6b43f9" /><Relationship Type="http://schemas.openxmlformats.org/officeDocument/2006/relationships/tableStyles" Target="/ppt/tableStyles.xml" Id="R7198fef5b5aa4dfb" /><Relationship Type="http://schemas.openxmlformats.org/officeDocument/2006/relationships/slide" Target="/ppt/slides/slide1.xml" Id="R6a7dd7a405d4414d" /><Relationship Type="http://schemas.openxmlformats.org/officeDocument/2006/relationships/slide" Target="/ppt/slides/slide2.xml" Id="R2fe18287bb68442a" /><Relationship Type="http://schemas.openxmlformats.org/officeDocument/2006/relationships/slide" Target="/ppt/slides/slide3.xml" Id="Rda1e3ec69fa74d61" /><Relationship Type="http://schemas.openxmlformats.org/officeDocument/2006/relationships/slide" Target="/ppt/slides/slide4.xml" Id="R2edd7c92662b425e" /><Relationship Type="http://schemas.openxmlformats.org/officeDocument/2006/relationships/slide" Target="/ppt/slides/slide5.xml" Id="R809a5314b63a45b7" /><Relationship Type="http://schemas.openxmlformats.org/officeDocument/2006/relationships/slide" Target="/ppt/slides/slide6.xml" Id="Rcc3b5365a80640ea" /><Relationship Type="http://schemas.openxmlformats.org/officeDocument/2006/relationships/slide" Target="/ppt/slides/slide7.xml" Id="Rad074e78a7004fab" /><Relationship Type="http://schemas.openxmlformats.org/officeDocument/2006/relationships/slide" Target="/ppt/slides/slide8.xml" Id="Refd1313425034fa7" /><Relationship Type="http://schemas.openxmlformats.org/officeDocument/2006/relationships/slide" Target="/ppt/slides/slide9.xml" Id="R140ca84f93e9419d" /><Relationship Type="http://schemas.openxmlformats.org/officeDocument/2006/relationships/slide" Target="/ppt/slides/slide10.xml" Id="Rb55acbfce7a441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bc7c05ea114a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f951ed66de4cad" /><Relationship Type="http://schemas.openxmlformats.org/officeDocument/2006/relationships/notesMaster" Target="/ppt/notesMasters/notesMaster1.xml" Id="Rb4e345d3541844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5d5f25be9b48a0" /><Relationship Type="http://schemas.openxmlformats.org/officeDocument/2006/relationships/notesMaster" Target="/ppt/notesMasters/notesMaster1.xml" Id="Red73467ed64f46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08393a7e694134" /><Relationship Type="http://schemas.openxmlformats.org/officeDocument/2006/relationships/notesMaster" Target="/ppt/notesMasters/notesMaster1.xml" Id="R1a41aac8f71848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28af8147404230" /><Relationship Type="http://schemas.openxmlformats.org/officeDocument/2006/relationships/notesMaster" Target="/ppt/notesMasters/notesMaster1.xml" Id="R7939cb114aa941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fdf3334b934089" /><Relationship Type="http://schemas.openxmlformats.org/officeDocument/2006/relationships/notesMaster" Target="/ppt/notesMasters/notesMaster1.xml" Id="R170a63f11d0a49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389d84703a411f" /><Relationship Type="http://schemas.openxmlformats.org/officeDocument/2006/relationships/notesMaster" Target="/ppt/notesMasters/notesMaster1.xml" Id="Raf5e55e72aa34c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13a75ce6f84b25" /><Relationship Type="http://schemas.openxmlformats.org/officeDocument/2006/relationships/notesMaster" Target="/ppt/notesMasters/notesMaster1.xml" Id="Rcfbf1a8557974e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1ed811892340de" /><Relationship Type="http://schemas.openxmlformats.org/officeDocument/2006/relationships/notesMaster" Target="/ppt/notesMasters/notesMaster1.xml" Id="R759c8f0ea64e4f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14406b2ef34d4d" /><Relationship Type="http://schemas.openxmlformats.org/officeDocument/2006/relationships/notesMaster" Target="/ppt/notesMasters/notesMaster1.xml" Id="Rf7fa1ae809324c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005ac910554d15" /><Relationship Type="http://schemas.openxmlformats.org/officeDocument/2006/relationships/notesMaster" Target="/ppt/notesMasters/notesMaster1.xml" Id="Ra3eb4b0d63434c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eabadeb8142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55965e71b9426a" /><Relationship Type="http://schemas.openxmlformats.org/officeDocument/2006/relationships/slideLayout" Target="/ppt/slideLayouts/slideLayout1.xml" Id="Rb6f8fafbf3b446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f8fafbf3b446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f09ff58714a19" /><Relationship Type="http://schemas.openxmlformats.org/officeDocument/2006/relationships/image" Target="/ppt/media/image.png" Id="R5f0efb149b924594" /><Relationship Type="http://schemas.openxmlformats.org/officeDocument/2006/relationships/notesSlide" Target="/ppt/notesSlides/notesSlide1.xml" Id="R12df14ba5bdb47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b165faf6e481c" /><Relationship Type="http://schemas.openxmlformats.org/officeDocument/2006/relationships/image" Target="/ppt/media/image2.png" Id="R00152535842c4d9d" /><Relationship Type="http://schemas.openxmlformats.org/officeDocument/2006/relationships/notesSlide" Target="/ppt/notesSlides/notesSlide2.xml" Id="Rc5b55b85a9d040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5d66754eb4c3e" /><Relationship Type="http://schemas.openxmlformats.org/officeDocument/2006/relationships/notesSlide" Target="/ppt/notesSlides/notesSlide3.xml" Id="Rb1160b755f0e48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5f0dbf4fd4a17" /><Relationship Type="http://schemas.openxmlformats.org/officeDocument/2006/relationships/image" Target="/ppt/media/image3.png" Id="R2f63fcc1cd7d418b" /><Relationship Type="http://schemas.openxmlformats.org/officeDocument/2006/relationships/notesSlide" Target="/ppt/notesSlides/notesSlide4.xml" Id="Rd26a3d44b79845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c64bbedc4304" /><Relationship Type="http://schemas.openxmlformats.org/officeDocument/2006/relationships/image" Target="/ppt/media/image4.png" Id="R6fc64c2bcb6147a7" /><Relationship Type="http://schemas.openxmlformats.org/officeDocument/2006/relationships/notesSlide" Target="/ppt/notesSlides/notesSlide5.xml" Id="Rbada5c5bf6a84e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072d2b2184708" /><Relationship Type="http://schemas.openxmlformats.org/officeDocument/2006/relationships/image" Target="/ppt/media/image5.png" Id="Rd69df4dffede47b8" /><Relationship Type="http://schemas.openxmlformats.org/officeDocument/2006/relationships/notesSlide" Target="/ppt/notesSlides/notesSlide6.xml" Id="Re505e46775194a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f4c30d6934120" /><Relationship Type="http://schemas.openxmlformats.org/officeDocument/2006/relationships/image" Target="/ppt/media/image6.png" Id="R4d33f6f335c74223" /><Relationship Type="http://schemas.openxmlformats.org/officeDocument/2006/relationships/notesSlide" Target="/ppt/notesSlides/notesSlide7.xml" Id="R128eae80621442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242b4ce144a08" /><Relationship Type="http://schemas.openxmlformats.org/officeDocument/2006/relationships/notesSlide" Target="/ppt/notesSlides/notesSlide8.xml" Id="R773589324e564a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59c89aba74a81" /><Relationship Type="http://schemas.openxmlformats.org/officeDocument/2006/relationships/notesSlide" Target="/ppt/notesSlides/notesSlide9.xml" Id="R9de30bf763e046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3db53f42542c9" /><Relationship Type="http://schemas.openxmlformats.org/officeDocument/2006/relationships/notesSlide" Target="/ppt/notesSlides/notesSlide10.xml" Id="R0781ee8089214b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efb149b924594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AF40C35-8299-4F3E-A324-3CC83A85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6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execution connects plans to physical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B94103C-F0C9-46F2-8947-3FF613AC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19957109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D269B630-07DE-40C4-950F-409A6095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563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is not enough to claim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52535842c4d9d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0408414D-62B5-4637-90AB-FA0EC915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875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central question is how controller choices survive controlled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140B89B1-D2F0-4224-83E1-27EED14A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479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4914877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23386884-B77E-4E46-968B-70DF5C22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53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faces the same plant, trajectory, limits, and metrics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6310744F-8D82-4142-B2EE-4DE30785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AB10E830-4C4E-409E-B9A9-DD6E5147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62C26F07-2C1C-4235-82C1-F6257BB4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802D6369-AF05-4361-946A-19FF929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4D9B44CA-8D37-412A-8172-3D3EF34B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ABFE679F-CD67-4F7A-AD7E-846583A6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DAE1F16D-2E5B-43B8-A0C6-51739F38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875649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68A493B-7CF5-4FC8-A8E1-5D76A34B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the baseline without changing the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3fcc1cd7d418b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56D53DD5-07D8-499B-87B6-DD794036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875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bounded search reduces the nominal objective by 7.283% and improves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E9737406-6FAF-4517-9964-4854C1C4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479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1054162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E37EB823-8A67-4906-B80F-50555C6F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5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Reliability separates the controllers under deterministic stress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64c2bcb6147a7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7B1873D1-9E60-4EE9-B5E3-24E946AC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121FA8C6-D895-4A89-89C6-6DBECE8C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479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payload, configuration,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7361905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756E6947-FBA6-475E-8210-10020227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50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Noise alone is manageable; combined stress is not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df4dffede47b8"/>
          <a:stretch xmlns:a="http://schemas.openxmlformats.org/drawingml/2006/main"/>
        </p:blipFill>
        <p:spPr>
          <a:xfrm xmlns:a="http://schemas.openxmlformats.org/drawingml/2006/main">
            <a:off x="5905500" y="1695364"/>
            <a:ext cx="5715000" cy="3714922"/>
          </a:xfrm>
          <a:prstGeom xmlns:a="http://schemas.openxmlformats.org/drawingml/2006/main" prst="rect">
            <a:avLst/>
          </a:prstGeom>
        </p:spPr>
      </p:pic>
      <p:sp>
        <p:nvSpPr>
          <p:cNvPr id="3" name="stochastic-claim">
            <a:extLst xmlns:a="http://schemas.openxmlformats.org/drawingml/2006/main">
              <a:ext uri="{FF2B5EF4-FFF2-40B4-BE49-F238E27FC236}">
                <a16:creationId xmlns:a16="http://schemas.microsoft.com/office/drawing/2014/main" id="{92391F8C-CFFC-4703-A9D1-A4112B9C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isolated-noise cell passes 30/30 paired trials, while every combined-stress cell passes 0/30.</a:t>
            </a:r>
          </a:p>
        </p:txBody>
      </p:sp>
      <p:sp>
        <p:nvSpPr>
          <p:cNvPr id="4" name="stochastic-body">
            <a:extLst xmlns:a="http://schemas.openxmlformats.org/drawingml/2006/main">
              <a:ext uri="{FF2B5EF4-FFF2-40B4-BE49-F238E27FC236}">
                <a16:creationId xmlns:a16="http://schemas.microsoft.com/office/drawing/2014/main" id="{BF2B04B3-82C3-42CA-BFAD-5C645BB0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479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full study contains 360 trials: 4 scenarios x 3 controllers x 30 fixed seeds.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high noise, optimized PID has the lowest tracking error but the highest mean torque slew (2888.34 N m/s).</a:t>
            </a:r>
          </a:p>
        </p:txBody>
      </p:sp>
    </p:spTree>
    <p:extLst>
      <p:ext uri="{BB962C8B-B14F-4D97-AF65-F5344CB8AC3E}">
        <p14:creationId xmlns:p14="http://schemas.microsoft.com/office/powerpoint/2010/main" val="14515306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20D271B1-5324-4C46-80E8-5303043A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86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evaluation exposes failures hidden by joint metrics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33f6f335c74223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F3FBA367-F907-425E-BE92-F383CE4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5730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875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the straight-line task; only optimized PID passes pick-transfer-place, so 4 of 6 completed task runs meet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663E50EA-659E-4729-82EB-F0AD9662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479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10421953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2E6246ED-8B3A-4243-9EA8-23ACBF93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178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at numerical precision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70DBCAD4-908A-49AC-9BC2-850D0729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F781F559-28BA-40A0-8DBC-63180DC4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A0FF328C-5CBF-4D2C-996A-027EEF9D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D7C3569F-D50C-4836-9D4D-7EFDA9E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80B44C06-6D4D-422F-B3A1-C77D9F74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5808237A-505D-48C7-B780-E8C4197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8D956A82-DADF-4DF1-BDA5-8392BD82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4228958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1005A00B-A0E7-454D-9FF1-4DAFAAAD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10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universal winner, but 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F55372D3-1894-4850-9C95-CB444369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80693880-D21E-4160-A7EC-65C246BD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D6B188B3-5D0E-4C78-AAEA-26A5B510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31AF8383-3012-4D82-97CD-17964411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26E717C8-D45C-4AB6-A2A3-699C7E7C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09792F1D-7056-475B-A03C-75211BBA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B32DB114-B6B9-491A-ACDD-965AF50C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 adaptation gives a small nominal joint-2 benefit;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7041666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A0623AA-8B7E-4746-B4C1-75FCFD44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082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validated layer is ready to support the next research step</a:t>
            </a:r>
          </a:p>
        </p:txBody>
      </p:sp>
      <p:sp>
        <p:nvSpPr>
          <p:cNvPr id="2" name="next-steps-lead">
            <a:extLst xmlns:a="http://schemas.openxmlformats.org/drawingml/2006/main">
              <a:ext uri="{FF2B5EF4-FFF2-40B4-BE49-F238E27FC236}">
                <a16:creationId xmlns:a16="http://schemas.microsoft.com/office/drawing/2014/main" id="{4D4766F3-A78A-4AE4-8212-30F7672D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1066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milestone is to test whether the same evidence discipline survives contact with sensing, hardware uncertainty, and online safety constraints.</a:t>
            </a:r>
          </a:p>
        </p:txBody>
      </p:sp>
      <p:sp>
        <p:nvSpPr>
          <p:cNvPr id="3" name="next-steps-steps">
            <a:extLst xmlns:a="http://schemas.openxmlformats.org/drawingml/2006/main">
              <a:ext uri="{FF2B5EF4-FFF2-40B4-BE49-F238E27FC236}">
                <a16:creationId xmlns:a16="http://schemas.microsoft.com/office/drawing/2014/main" id="{36C77483-AAAC-4338-9832-48AF316C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0"/>
            <a:ext cx="1066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Hardware-in-the-loop and physical-arm validation with calibrated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Perception and task-planning integration above the existing inner-loop controller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Online monitoring, collision avoidance, and explicit safety supervision before deployment.</a:t>
            </a:r>
          </a:p>
        </p:txBody>
      </p:sp>
    </p:spTree>
    <p:extLst>
      <p:ext uri="{BB962C8B-B14F-4D97-AF65-F5344CB8AC3E}">
        <p14:creationId xmlns:p14="http://schemas.microsoft.com/office/powerpoint/2010/main" val="9589609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