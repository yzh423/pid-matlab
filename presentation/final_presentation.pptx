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1" /><Relationship Type="http://schemas.openxmlformats.org/officeDocument/2006/relationships/extended-properties" Target="/docProps/app.xml" Id="rId2" /><Relationship Type="http://schemas.openxmlformats.org/officeDocument/2006/relationships/officeDocument" Target="/ppt/presentation.xml" Id="rI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2"/>
  </p:sldMasterIdLst>
  <p:notesMasterIdLst>
    <p:notesMasterId xmlns:r="http://schemas.openxmlformats.org/officeDocument/2006/relationships" r:id="rId3"/>
  </p:notesMasterIdLst>
  <p:sldIdLst>
    <p:sldId xmlns:r="http://schemas.openxmlformats.org/officeDocument/2006/relationships" id="256" r:id="rId6"/>
    <p:sldId xmlns:r="http://schemas.openxmlformats.org/officeDocument/2006/relationships" id="257" r:id="rId7"/>
    <p:sldId xmlns:r="http://schemas.openxmlformats.org/officeDocument/2006/relationships" id="258" r:id="rId8"/>
    <p:sldId xmlns:r="http://schemas.openxmlformats.org/officeDocument/2006/relationships" id="259" r:id="rId9"/>
    <p:sldId xmlns:r="http://schemas.openxmlformats.org/officeDocument/2006/relationships" id="260" r:id="rId10"/>
    <p:sldId xmlns:r="http://schemas.openxmlformats.org/officeDocument/2006/relationships" id="261" r:id="rId11"/>
    <p:sldId xmlns:r="http://schemas.openxmlformats.org/officeDocument/2006/relationships" id="262" r:id="rId12"/>
    <p:sldId xmlns:r="http://schemas.openxmlformats.org/officeDocument/2006/relationships" id="263" r:id="rId13"/>
    <p:sldId xmlns:r="http://schemas.openxmlformats.org/officeDocument/2006/relationships" id="264" r:id="rId14"/>
    <p:sldId xmlns:r="http://schemas.openxmlformats.org/officeDocument/2006/relationships" id="265" r:id="rId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Id1" /><Relationship Type="http://schemas.openxmlformats.org/officeDocument/2006/relationships/slideMaster" Target="/ppt/slideMasters/slideMaster1.xml" Id="rId2" /><Relationship Type="http://schemas.openxmlformats.org/officeDocument/2006/relationships/notesMaster" Target="/ppt/notesMasters/notesMaster1.xml" Id="rId3" /><Relationship Type="http://schemas.openxmlformats.org/officeDocument/2006/relationships/presProps" Target="/ppt/presProps.xml" Id="rId4" /><Relationship Type="http://schemas.openxmlformats.org/officeDocument/2006/relationships/tableStyles" Target="/ppt/tableStyles.xml" Id="rId5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Relationship Type="http://schemas.openxmlformats.org/officeDocument/2006/relationships/slide" Target="/ppt/slides/slide4.xml" Id="rId9" /><Relationship Type="http://schemas.openxmlformats.org/officeDocument/2006/relationships/slide" Target="/ppt/slides/slide5.xml" Id="rId10" /><Relationship Type="http://schemas.openxmlformats.org/officeDocument/2006/relationships/slide" Target="/ppt/slides/slide6.xml" Id="rId11" /><Relationship Type="http://schemas.openxmlformats.org/officeDocument/2006/relationships/slide" Target="/ppt/slides/slide7.xml" Id="rId12" /><Relationship Type="http://schemas.openxmlformats.org/officeDocument/2006/relationships/slide" Target="/ppt/slides/slide8.xml" Id="rId13" /><Relationship Type="http://schemas.openxmlformats.org/officeDocument/2006/relationships/slide" Target="/ppt/slides/slide9.xml" Id="rId14" /><Relationship Type="http://schemas.openxmlformats.org/officeDocument/2006/relationships/slide" Target="/ppt/slides/slide10.xml" Id="rId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I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1" /><Relationship Type="http://schemas.openxmlformats.org/officeDocument/2006/relationships/notesMaster" Target="/ppt/notesMasters/notesMaster1.xml" Id="rI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Id1" /><Relationship Type="http://schemas.openxmlformats.org/officeDocument/2006/relationships/notesMaster" Target="/ppt/notesMasters/notesMaster1.xml" Id="rI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Id1" /><Relationship Type="http://schemas.openxmlformats.org/officeDocument/2006/relationships/notesMaster" Target="/ppt/notesMasters/notesMaster1.xml" Id="rI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Id1" /><Relationship Type="http://schemas.openxmlformats.org/officeDocument/2006/relationships/notesMaster" Target="/ppt/notesMasters/notesMaster1.xml" Id="rI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Id1" /><Relationship Type="http://schemas.openxmlformats.org/officeDocument/2006/relationships/notesMaster" Target="/ppt/notesMasters/notesMaster1.xml" Id="rI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Id1" /><Relationship Type="http://schemas.openxmlformats.org/officeDocument/2006/relationships/notesMaster" Target="/ppt/notesMasters/notesMaster1.xml" Id="rI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Id1" /><Relationship Type="http://schemas.openxmlformats.org/officeDocument/2006/relationships/notesMaster" Target="/ppt/notesMasters/notesMaster1.xml" Id="rI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Id1" /><Relationship Type="http://schemas.openxmlformats.org/officeDocument/2006/relationships/notesMaster" Target="/ppt/notesMasters/notesMaster1.xml" Id="rI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Id1" /><Relationship Type="http://schemas.openxmlformats.org/officeDocument/2006/relationships/notesMaster" Target="/ppt/notesMasters/notesMaster1.xml" Id="rI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Id1" /><Relationship Type="http://schemas.openxmlformats.org/officeDocument/2006/relationships/notesMaster" Target="/ppt/notesMasters/notesMaster1.xml" Id="rI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project as a validated execution layer rather than an end-to-end robot intelligence stack.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docs/report/technical_report.md</a:t>
            </a:r>
          </a:p>
          <a:p xmlns:a="http://schemas.openxmlformats.org/drawingml/2006/main">
            <a:r>
              <a:t>- results/figures/multibody_cross_validation_tracking.png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nominal plot to motivate why the later stress matrix is necessary.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docs/report/technical_report.md</a:t>
            </a:r>
          </a:p>
          <a:p xmlns:a="http://schemas.openxmlformats.org/drawingml/2006/main">
            <a:r>
              <a:t>- results/figures/nominal_pid_vs_fuzzy_tracking.png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fairness before discussing controller rankings.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docs/report/technical_report.md</a:t>
            </a:r>
          </a:p>
          <a:p xmlns:a="http://schemas.openxmlformats.org/drawingml/2006/main">
            <a:r>
              <a:t>- results/report/report_evidence.json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tuning evidence from reliability evidence: a lower objective does not prove universal robustness.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docs/report/technical_report.md</a:t>
            </a:r>
          </a:p>
          <a:p xmlns:a="http://schemas.openxmlformats.org/drawingml/2006/main">
            <a:r>
              <a:t>- results/figures/pid_optimization_objective.png</a:t>
            </a:r>
          </a:p>
          <a:p xmlns:a="http://schemas.openxmlformats.org/drawingml/2006/main">
            <a:r>
              <a:t>- results/data/pid_optimization.mat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both the aggregate ranking and the shared combined-condition failure.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docs/report/technical_report.md</a:t>
            </a:r>
          </a:p>
          <a:p xmlns:a="http://schemas.openxmlformats.org/drawingml/2006/main">
            <a:r>
              <a:t>- results/figures/deterministic_robustness_summary.png</a:t>
            </a:r>
          </a:p>
          <a:p xmlns:a="http://schemas.openxmlformats.org/drawingml/2006/main">
            <a:r>
              <a:t>- results/data/deterministic_robustness_summary.csv</a:t>
            </a:r>
          </a:p>
          <a:p xmlns:a="http://schemas.openxmlformats.org/drawingml/2006/main">
            <a:r>
              <a:t>- results/data/deterministic_robustness_runs.csv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paired-seed design to explain why the controller comparison is fair.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docs/report/technical_report.md</a:t>
            </a:r>
          </a:p>
          <a:p xmlns:a="http://schemas.openxmlformats.org/drawingml/2006/main">
            <a:r>
              <a:t>- results/figures/stochastic_robustness_chattering.png</a:t>
            </a:r>
          </a:p>
          <a:p xmlns:a="http://schemas.openxmlformats.org/drawingml/2006/main">
            <a:r>
              <a:t>- results/data/stochastic_robustness_summary.csv</a:t>
            </a:r>
          </a:p>
          <a:p xmlns:a="http://schemas.openxmlformats.org/drawingml/2006/main">
            <a:r>
              <a:t>- results/data/stochastic_robustness_trials.csv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Completed does not mean successful; retain the 2 failed completed runs.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docs/report/technical_report.md</a:t>
            </a:r>
          </a:p>
          <a:p xmlns:a="http://schemas.openxmlformats.org/drawingml/2006/main">
            <a:r>
              <a:t>- results/figures/cartesian_tasks_paths.png</a:t>
            </a:r>
          </a:p>
          <a:p xmlns:a="http://schemas.openxmlformats.org/drawingml/2006/main">
            <a:r>
              <a:t>- results/data/cartesian_tasks_runs.csv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Distinguish independent formulation from independent physical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docs/report/technical_report.md</a:t>
            </a:r>
          </a:p>
          <a:p xmlns:a="http://schemas.openxmlformats.org/drawingml/2006/main">
            <a:r>
              <a:t>- results/data/simulink_cross_validation.mat</a:t>
            </a:r>
          </a:p>
          <a:p xmlns:a="http://schemas.openxmlformats.org/drawingml/2006/main">
            <a:r>
              <a:t>- results/data/multibody_cross_validation.mat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 a conditional conclusion, not a universal-controller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docs/report/technical_report.md</a:t>
            </a:r>
          </a:p>
          <a:p xmlns:a="http://schemas.openxmlformats.org/drawingml/2006/main">
            <a:r>
              <a:t>- results/report/report_evidence.json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resolving the opening: the low-level layer is validated for simulation and bounded next research is clear.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docs/report/technical_report.md</a:t>
            </a:r>
          </a:p>
          <a:p xmlns:a="http://schemas.openxmlformats.org/drawingml/2006/main">
            <a:r>
              <a:t>- docs/report/references.json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Id1" /><Relationship Type="http://schemas.openxmlformats.org/officeDocument/2006/relationships/slideLayout" Target="/ppt/slideLayouts/slideLayout1.xml" Id="rI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.png" Id="rId2" /><Relationship Type="http://schemas.openxmlformats.org/officeDocument/2006/relationships/notesSlide" Target="/ppt/notesSlides/notesSlide1.xml" Id="rI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2.png" Id="rId2" /><Relationship Type="http://schemas.openxmlformats.org/officeDocument/2006/relationships/notesSlide" Target="/ppt/notesSlides/notesSlide2.xml" Id="rI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3.xml" Id="rI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3.png" Id="rId2" /><Relationship Type="http://schemas.openxmlformats.org/officeDocument/2006/relationships/notesSlide" Target="/ppt/notesSlides/notesSlide4.xml" Id="rI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4.png" Id="rId2" /><Relationship Type="http://schemas.openxmlformats.org/officeDocument/2006/relationships/notesSlide" Target="/ppt/notesSlides/notesSlide5.xml" Id="rI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5.png" Id="rId2" /><Relationship Type="http://schemas.openxmlformats.org/officeDocument/2006/relationships/notesSlide" Target="/ppt/notesSlides/notesSlide6.xml" Id="rI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6.png" Id="rId2" /><Relationship Type="http://schemas.openxmlformats.org/officeDocument/2006/relationships/notesSlide" Target="/ppt/notesSlides/notesSlide7.xml" Id="rI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8.xml" Id="rI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9.xml" Id="rI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10.xml" Id="rI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2"/>
          <a:stretch xmlns:a="http://schemas.openxmlformats.org/drawingml/2006/main"/>
        </p:blipFill>
        <p:spPr>
          <a:xfrm xmlns:a="http://schemas.openxmlformats.org/drawingml/2006/main">
            <a:off x="6477000" y="1471702"/>
            <a:ext cx="5143500" cy="3571696"/>
          </a:xfrm>
          <a:prstGeom xmlns:a="http://schemas.openxmlformats.org/drawingml/2006/main" prst="rect">
            <a:avLst/>
          </a:prstGeom>
        </p:spPr>
      </p:pic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5334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863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Reliable execution connects plans to physical action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05250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Evidence-grounded PID and Fuzzy-PID evaluation for a 2-link manipulator</a:t>
            </a:r>
          </a:p>
        </p:txBody>
      </p:sp>
    </p:spTree>
    <p:extLst>
      <p:ext uri="{BB962C8B-B14F-4D97-AF65-F5344CB8AC3E}">
        <p14:creationId xmlns:p14="http://schemas.microsoft.com/office/powerpoint/2010/main" val="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563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Nominal success is not enough to claim reliable manipulation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2"/>
          <a:stretch xmlns:a="http://schemas.openxmlformats.org/drawingml/2006/main"/>
        </p:blipFill>
        <p:spPr>
          <a:xfrm xmlns:a="http://schemas.openxmlformats.org/drawingml/2006/main">
            <a:off x="5905500" y="1734837"/>
            <a:ext cx="5715000" cy="3635976"/>
          </a:xfrm>
          <a:prstGeom xmlns:a="http://schemas.openxmlformats.org/drawingml/2006/main" prst="rect">
            <a:avLst/>
          </a:prstGeom>
        </p:spPr>
      </p:pic>
      <p:sp>
        <p:nvSpPr>
          <p:cNvPr id="3" name="problem-claim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514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98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central question is how controller choices survive controlled changes in payload, configuration, noise, disturbance, and actuator authority.</a:t>
            </a:r>
          </a:p>
        </p:txBody>
      </p:sp>
      <p:sp>
        <p:nvSpPr>
          <p:cNvPr id="4" name="problem-body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5143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controller can pass one nominal trajectory and still fail when uncertainties interact.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study therefore reports failed completed runs instead of filtering them from averages.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 conclusions are simulation-only; no hardware safety or fidelity claim is made.</a:t>
            </a:r>
          </a:p>
        </p:txBody>
      </p:sp>
    </p:spTree>
    <p:extLst>
      <p:ext uri="{BB962C8B-B14F-4D97-AF65-F5344CB8AC3E}">
        <p14:creationId xmlns:p14="http://schemas.microsoft.com/office/powerpoint/2010/main" val="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53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Every controller faces the same plant, trajectory, limits, and metrics</a:t>
            </a:r>
          </a:p>
        </p:txBody>
      </p:sp>
      <p:sp>
        <p:nvSpPr>
          <p:cNvPr id="2" name="protocol-metric-1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0.001 s</a:t>
            </a:r>
          </a:p>
        </p:txBody>
      </p:sp>
      <p:sp>
        <p:nvSpPr>
          <p:cNvPr id="3" name="protocol-metric-label-1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338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fixed sample time</a:t>
            </a:r>
          </a:p>
        </p:txBody>
      </p:sp>
      <p:sp>
        <p:nvSpPr>
          <p:cNvPr id="4" name="protocol-metric-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81250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5.0 s</a:t>
            </a:r>
          </a:p>
        </p:txBody>
      </p:sp>
      <p:sp>
        <p:nvSpPr>
          <p:cNvPr id="5" name="protocol-metric-label-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338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nominal duration</a:t>
            </a:r>
          </a:p>
        </p:txBody>
      </p:sp>
      <p:sp>
        <p:nvSpPr>
          <p:cNvPr id="6" name="protocol-metric-3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5001</a:t>
            </a:r>
          </a:p>
        </p:txBody>
      </p:sp>
      <p:sp>
        <p:nvSpPr>
          <p:cNvPr id="7" name="protocol-metric-label-3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338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samples per nominal run</a:t>
            </a:r>
          </a:p>
        </p:txBody>
      </p:sp>
      <p:sp>
        <p:nvSpPr>
          <p:cNvPr id="8" name="protocol-interpretation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Manual PID, Mamdani Fuzzy-PID, and optimized PID use identical robot parameters, torque limits, trajectories, thresholds, and random seeds.</a:t>
            </a:r>
          </a:p>
        </p:txBody>
      </p:sp>
    </p:spTree>
    <p:extLst>
      <p:ext uri="{BB962C8B-B14F-4D97-AF65-F5344CB8AC3E}">
        <p14:creationId xmlns:p14="http://schemas.microsoft.com/office/powerpoint/2010/main" val="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92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Optimization improves the baseline without changing the protocol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2"/>
          <a:stretch xmlns:a="http://schemas.openxmlformats.org/drawingml/2006/main"/>
        </p:blipFill>
        <p:spPr>
          <a:xfrm xmlns:a="http://schemas.openxmlformats.org/drawingml/2006/main">
            <a:off x="5905500" y="1706467"/>
            <a:ext cx="5715000" cy="3692717"/>
          </a:xfrm>
          <a:prstGeom xmlns:a="http://schemas.openxmlformats.org/drawingml/2006/main" prst="rect">
            <a:avLst/>
          </a:prstGeom>
        </p:spPr>
      </p:pic>
      <p:sp>
        <p:nvSpPr>
          <p:cNvPr id="3" name="optimization-claim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514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5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bounded search reduces the nominal objective by 7.283% and improves the held-out payload objective from 0.214504 to 0.197284.</a:t>
            </a:r>
          </a:p>
        </p:txBody>
      </p:sp>
      <p:sp>
        <p:nvSpPr>
          <p:cNvPr id="4" name="optimization-body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5143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search converges with exit flag 1 after 12 iterations and 96 evaluations.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Only PID gains change; the plant, torque limits, trajectory, objective, and evaluation thresholds remain fixed.</a:t>
            </a:r>
          </a:p>
        </p:txBody>
      </p:sp>
    </p:spTree>
    <p:extLst>
      <p:ext uri="{BB962C8B-B14F-4D97-AF65-F5344CB8AC3E}">
        <p14:creationId xmlns:p14="http://schemas.microsoft.com/office/powerpoint/2010/main" val="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599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Reliability separates the controllers under deterministic stress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2"/>
          <a:stretch xmlns:a="http://schemas.openxmlformats.org/drawingml/2006/main"/>
        </p:blipFill>
        <p:spPr>
          <a:xfrm xmlns:a="http://schemas.openxmlformats.org/drawingml/2006/main">
            <a:off x="5905500" y="1719328"/>
            <a:ext cx="5715000" cy="3666995"/>
          </a:xfrm>
          <a:prstGeom xmlns:a="http://schemas.openxmlformats.org/drawingml/2006/main" prst="rect">
            <a:avLst/>
          </a:prstGeom>
        </p:spPr>
      </p:pic>
      <p:sp>
        <p:nvSpPr>
          <p:cNvPr id="3" name="deterministic-claim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514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Success rises from 8/13 for manual PID to 9/13 for Fuzzy-PID and 10/13 for optimized PID.</a:t>
            </a:r>
          </a:p>
        </p:txBody>
      </p:sp>
      <p:sp>
        <p:nvSpPr>
          <p:cNvPr id="4" name="deterministic-body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5143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matrix contains 39 controller-scenario runs across nominal, payload, configuration, uncertainty, disturbance, actuator, and combined conditions.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 3 controllers fail the combined deterministic case, so the ranking is comparative rather than a safety guarantee.</a:t>
            </a:r>
          </a:p>
        </p:txBody>
      </p:sp>
    </p:spTree>
    <p:extLst>
      <p:ext uri="{BB962C8B-B14F-4D97-AF65-F5344CB8AC3E}">
        <p14:creationId xmlns:p14="http://schemas.microsoft.com/office/powerpoint/2010/main" val="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501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Noise alone is manageable; combined stress is not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2"/>
          <a:stretch xmlns:a="http://schemas.openxmlformats.org/drawingml/2006/main"/>
        </p:blipFill>
        <p:spPr>
          <a:xfrm xmlns:a="http://schemas.openxmlformats.org/drawingml/2006/main">
            <a:off x="5905500" y="1695364"/>
            <a:ext cx="5715000" cy="3714922"/>
          </a:xfrm>
          <a:prstGeom xmlns:a="http://schemas.openxmlformats.org/drawingml/2006/main" prst="rect">
            <a:avLst/>
          </a:prstGeom>
        </p:spPr>
      </p:pic>
      <p:sp>
        <p:nvSpPr>
          <p:cNvPr id="3" name="stochastic-claim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514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 isolated-noise cell passes 30/30 paired trials, while every combined-stress cell passes 0/30.</a:t>
            </a:r>
          </a:p>
        </p:txBody>
      </p:sp>
      <p:sp>
        <p:nvSpPr>
          <p:cNvPr id="4" name="stochastic-body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5143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full study contains 360 trials: 4 scenarios x 3 controllers x 30 fixed seeds.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At high noise, optimized PID has the lowest tracking error but the highest mean torque slew (2888.34 N m/s).</a:t>
            </a:r>
          </a:p>
        </p:txBody>
      </p:sp>
    </p:spTree>
    <p:extLst>
      <p:ext uri="{BB962C8B-B14F-4D97-AF65-F5344CB8AC3E}">
        <p14:creationId xmlns:p14="http://schemas.microsoft.com/office/powerpoint/2010/main" val="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861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Task-space evaluation exposes failures hidden by joint metrics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2"/>
          <a:stretch xmlns:a="http://schemas.openxmlformats.org/drawingml/2006/main"/>
        </p:blipFill>
        <p:spPr>
          <a:xfrm xmlns:a="http://schemas.openxmlformats.org/drawingml/2006/main">
            <a:off x="5905500" y="2195126"/>
            <a:ext cx="5715000" cy="2715397"/>
          </a:xfrm>
          <a:prstGeom xmlns:a="http://schemas.openxmlformats.org/drawingml/2006/main" prst="rect">
            <a:avLst/>
          </a:prstGeom>
        </p:spPr>
      </p:pic>
      <p:sp>
        <p:nvSpPr>
          <p:cNvPr id="3" name="cartesian-claim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514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67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All 3 controllers pass the straight-line task; only optimized PID passes pick-transfer-place, so 4 of 6 completed task runs meet every gate.</a:t>
            </a:r>
          </a:p>
        </p:txBody>
      </p:sp>
      <p:sp>
        <p:nvSpPr>
          <p:cNvPr id="4" name="cartesian-body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5143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Manual and Fuzzy-PID complete the pick-transfer-place simulation but fail its quantitative pickup/place criteria.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Optimized PID records 0.01422 m RMS and 0.02970 m maximum Cartesian error.</a:t>
            </a:r>
          </a:p>
        </p:txBody>
      </p:sp>
    </p:spTree>
    <p:extLst>
      <p:ext uri="{BB962C8B-B14F-4D97-AF65-F5344CB8AC3E}">
        <p14:creationId xmlns:p14="http://schemas.microsoft.com/office/powerpoint/2010/main" val="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78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Independent formulations agree at numerical precision</a:t>
            </a:r>
          </a:p>
        </p:txBody>
      </p:sp>
      <p:sp>
        <p:nvSpPr>
          <p:cNvPr id="2" name="cross-validation-metric-1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2/2</a:t>
            </a:r>
          </a:p>
        </p:txBody>
      </p:sp>
      <p:sp>
        <p:nvSpPr>
          <p:cNvPr id="3" name="cross-validation-metric-label-1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338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Simulink agreement and tracking passes</a:t>
            </a:r>
          </a:p>
        </p:txBody>
      </p:sp>
      <p:sp>
        <p:nvSpPr>
          <p:cNvPr id="4" name="cross-validation-metric-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81250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2/2</a:t>
            </a:r>
          </a:p>
        </p:txBody>
      </p:sp>
      <p:sp>
        <p:nvSpPr>
          <p:cNvPr id="5" name="cross-validation-metric-label-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338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Multibody agreement and tracking passes</a:t>
            </a:r>
          </a:p>
        </p:txBody>
      </p:sp>
      <p:sp>
        <p:nvSpPr>
          <p:cNvPr id="6" name="cross-validation-metric-3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3.34e-16 m</a:t>
            </a:r>
          </a:p>
        </p:txBody>
      </p:sp>
      <p:sp>
        <p:nvSpPr>
          <p:cNvPr id="7" name="cross-validation-metric-label-3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338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worst end-effector difference</a:t>
            </a:r>
          </a:p>
        </p:txBody>
      </p:sp>
      <p:sp>
        <p:nvSpPr>
          <p:cNvPr id="8" name="cross-validation-interpretation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result supports model consistency under one fixed protocol. Shared parameters and target trajectories mean it is not evidence of hardware fidelity.</a:t>
            </a:r>
          </a:p>
        </p:txBody>
      </p:sp>
    </p:spTree>
    <p:extLst>
      <p:ext uri="{BB962C8B-B14F-4D97-AF65-F5344CB8AC3E}">
        <p14:creationId xmlns:p14="http://schemas.microsoft.com/office/powerpoint/2010/main" val="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There is no universal winner, but</a:t>
            </a:r>
          </a:p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optimized PID is the strongest reliability baseline</a:t>
            </a:r>
          </a:p>
        </p:txBody>
      </p:sp>
      <p:sp>
        <p:nvSpPr>
          <p:cNvPr id="2" name="conclusion-metric-1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8/13</a:t>
            </a:r>
          </a:p>
        </p:txBody>
      </p:sp>
      <p:sp>
        <p:nvSpPr>
          <p:cNvPr id="3" name="conclusion-metric-label-1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338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manual PID deterministic success</a:t>
            </a:r>
          </a:p>
        </p:txBody>
      </p:sp>
      <p:sp>
        <p:nvSpPr>
          <p:cNvPr id="4" name="conclusion-metric-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81250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9/13</a:t>
            </a:r>
          </a:p>
        </p:txBody>
      </p:sp>
      <p:sp>
        <p:nvSpPr>
          <p:cNvPr id="5" name="conclusion-metric-label-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338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Fuzzy-PID deterministic success</a:t>
            </a:r>
          </a:p>
        </p:txBody>
      </p:sp>
      <p:sp>
        <p:nvSpPr>
          <p:cNvPr id="6" name="conclusion-metric-3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10/13</a:t>
            </a:r>
          </a:p>
        </p:txBody>
      </p:sp>
      <p:sp>
        <p:nvSpPr>
          <p:cNvPr id="7" name="conclusion-metric-label-3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338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optimized PID deterministic success</a:t>
            </a:r>
          </a:p>
        </p:txBody>
      </p:sp>
      <p:sp>
        <p:nvSpPr>
          <p:cNvPr id="8" name="conclusion-interpretation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Nominal metrics are mixed across manual PID and Fuzzy-PID; optimized PID provides the best aggregate deterministic and Cartesian reliability, with a torque-slew trade-off under noise.</a:t>
            </a:r>
          </a:p>
        </p:txBody>
      </p:sp>
    </p:spTree>
    <p:extLst>
      <p:ext uri="{BB962C8B-B14F-4D97-AF65-F5344CB8AC3E}">
        <p14:creationId xmlns:p14="http://schemas.microsoft.com/office/powerpoint/2010/main" val="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2082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validated layer is ready to support the next research step</a:t>
            </a:r>
          </a:p>
        </p:txBody>
      </p:sp>
      <p:sp>
        <p:nvSpPr>
          <p:cNvPr id="2" name="next-steps-lead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24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next milestone is to test whether the same evidence discipline survives contact with sensing, hardware uncertainty, and online safety constraints.</a:t>
            </a:r>
          </a:p>
        </p:txBody>
      </p:sp>
      <p:sp>
        <p:nvSpPr>
          <p:cNvPr id="3" name="next-steps-steps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0"/>
            <a:ext cx="10668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Hardware-in-the-loop and physical-arm validation with calibrated uncertainty.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Perception and task-planning integration above the existing inner-loop controller layer.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 Online monitoring, collision avoidance, and explicit safety supervision before deployment.</a:t>
            </a:r>
          </a:p>
        </p:txBody>
      </p:sp>
    </p:spTree>
    <p:extLst>
      <p:ext uri="{BB962C8B-B14F-4D97-AF65-F5344CB8AC3E}">
        <p14:creationId xmlns:p14="http://schemas.microsoft.com/office/powerpoint/2010/main" val="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2026-08-21T00:00:00Z</dcterms:created>
  <dcterms:modified xsi:type="dcterms:W3CDTF">2026-08-21T00:00:00Z</dcterms:modified>
</coreProperties>
</file>