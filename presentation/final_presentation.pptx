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Id1" /><Relationship Type="http://schemas.openxmlformats.org/officeDocument/2006/relationships/extended-properties" Target="/docProps/app.xml" Id="rId2" /><Relationship Type="http://schemas.openxmlformats.org/officeDocument/2006/relationships/officeDocument" Target="/ppt/presentation.xml" Id="rI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2"/>
  </p:sldMasterIdLst>
  <p:notesMasterIdLst>
    <p:notesMasterId xmlns:r="http://schemas.openxmlformats.org/officeDocument/2006/relationships" r:id="rId3"/>
  </p:notesMasterIdLst>
  <p:sldIdLst>
    <p:sldId xmlns:r="http://schemas.openxmlformats.org/officeDocument/2006/relationships" id="256" r:id="rId6"/>
    <p:sldId xmlns:r="http://schemas.openxmlformats.org/officeDocument/2006/relationships" id="257" r:id="rId7"/>
    <p:sldId xmlns:r="http://schemas.openxmlformats.org/officeDocument/2006/relationships" id="258" r:id="rId8"/>
    <p:sldId xmlns:r="http://schemas.openxmlformats.org/officeDocument/2006/relationships" id="259" r:id="rId9"/>
    <p:sldId xmlns:r="http://schemas.openxmlformats.org/officeDocument/2006/relationships" id="260" r:id="rId10"/>
    <p:sldId xmlns:r="http://schemas.openxmlformats.org/officeDocument/2006/relationships" id="261" r:id="rId11"/>
    <p:sldId xmlns:r="http://schemas.openxmlformats.org/officeDocument/2006/relationships" id="262" r:id="rId12"/>
    <p:sldId xmlns:r="http://schemas.openxmlformats.org/officeDocument/2006/relationships" id="263" r:id="rId13"/>
    <p:sldId xmlns:r="http://schemas.openxmlformats.org/officeDocument/2006/relationships" id="264" r:id="rId14"/>
    <p:sldId xmlns:r="http://schemas.openxmlformats.org/officeDocument/2006/relationships" id="265" r:id="rId1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Id1" /><Relationship Type="http://schemas.openxmlformats.org/officeDocument/2006/relationships/slideMaster" Target="/ppt/slideMasters/slideMaster1.xml" Id="rId2" /><Relationship Type="http://schemas.openxmlformats.org/officeDocument/2006/relationships/notesMaster" Target="/ppt/notesMasters/notesMaster1.xml" Id="rId3" /><Relationship Type="http://schemas.openxmlformats.org/officeDocument/2006/relationships/presProps" Target="/ppt/presProps.xml" Id="rId4" /><Relationship Type="http://schemas.openxmlformats.org/officeDocument/2006/relationships/tableStyles" Target="/ppt/tableStyles.xml" Id="rId5" /><Relationship Type="http://schemas.openxmlformats.org/officeDocument/2006/relationships/slide" Target="/ppt/slides/slide1.xml" Id="rId6" /><Relationship Type="http://schemas.openxmlformats.org/officeDocument/2006/relationships/slide" Target="/ppt/slides/slide2.xml" Id="rId7" /><Relationship Type="http://schemas.openxmlformats.org/officeDocument/2006/relationships/slide" Target="/ppt/slides/slide3.xml" Id="rId8" /><Relationship Type="http://schemas.openxmlformats.org/officeDocument/2006/relationships/slide" Target="/ppt/slides/slide4.xml" Id="rId9" /><Relationship Type="http://schemas.openxmlformats.org/officeDocument/2006/relationships/slide" Target="/ppt/slides/slide5.xml" Id="rId10" /><Relationship Type="http://schemas.openxmlformats.org/officeDocument/2006/relationships/slide" Target="/ppt/slides/slide6.xml" Id="rId11" /><Relationship Type="http://schemas.openxmlformats.org/officeDocument/2006/relationships/slide" Target="/ppt/slides/slide7.xml" Id="rId12" /><Relationship Type="http://schemas.openxmlformats.org/officeDocument/2006/relationships/slide" Target="/ppt/slides/slide8.xml" Id="rId13" /><Relationship Type="http://schemas.openxmlformats.org/officeDocument/2006/relationships/slide" Target="/ppt/slides/slide9.xml" Id="rId14" /><Relationship Type="http://schemas.openxmlformats.org/officeDocument/2006/relationships/slide" Target="/ppt/slides/slide10.xml" Id="rId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I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Id1" /><Relationship Type="http://schemas.openxmlformats.org/officeDocument/2006/relationships/notesMaster" Target="/ppt/notesMasters/notesMaster1.xml" Id="rI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Id1" /><Relationship Type="http://schemas.openxmlformats.org/officeDocument/2006/relationships/notesMaster" Target="/ppt/notesMasters/notesMaster1.xml" Id="rId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Id1" /><Relationship Type="http://schemas.openxmlformats.org/officeDocument/2006/relationships/notesMaster" Target="/ppt/notesMasters/notesMaster1.xml" Id="rI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Id1" /><Relationship Type="http://schemas.openxmlformats.org/officeDocument/2006/relationships/notesMaster" Target="/ppt/notesMasters/notesMaster1.xml" Id="rId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Id1" /><Relationship Type="http://schemas.openxmlformats.org/officeDocument/2006/relationships/notesMaster" Target="/ppt/notesMasters/notesMaster1.xml" Id="rI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Id1" /><Relationship Type="http://schemas.openxmlformats.org/officeDocument/2006/relationships/notesMaster" Target="/ppt/notesMasters/notesMaster1.xml" Id="rI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Id1" /><Relationship Type="http://schemas.openxmlformats.org/officeDocument/2006/relationships/notesMaster" Target="/ppt/notesMasters/notesMaster1.xml" Id="rId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Id1" /><Relationship Type="http://schemas.openxmlformats.org/officeDocument/2006/relationships/notesMaster" Target="/ppt/notesMasters/notesMaster1.xml" Id="rI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Id1" /><Relationship Type="http://schemas.openxmlformats.org/officeDocument/2006/relationships/notesMaster" Target="/ppt/notesMasters/notesMaster1.xml" Id="rI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Id1" /><Relationship Type="http://schemas.openxmlformats.org/officeDocument/2006/relationships/notesMaster" Target="/ppt/notesMasters/notesMaster1.xml" Id="rI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project as a validated execution layer rather than an end-to-end robot intelligence stack.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results/figures/multibody_cross_validation_tracking.png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nominal plot to motivate why the later stress matrix is necessary.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results/figures/nominal_pid_vs_fuzzy_tracking.png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fairness before discussing controller rankings.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tuning evidence from reliability evidence: a lower objective does not prove universal robustness.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results/figures/pid_optimization_objective.png</a:t>
            </a:r>
          </a:p>
          <a:p xmlns:a="http://schemas.openxmlformats.org/drawingml/2006/main">
            <a:r>
              <a:t>- results/data/pid_optimization.mat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both the aggregate ranking and the shared combined-condition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results/figures/deterministic_robustness_summary.png</a:t>
            </a:r>
          </a:p>
          <a:p xmlns:a="http://schemas.openxmlformats.org/drawingml/2006/main">
            <a:r>
              <a:t>- results/data/deterministic_robustness_summary.csv</a:t>
            </a:r>
          </a:p>
          <a:p xmlns:a="http://schemas.openxmlformats.org/drawingml/2006/main">
            <a:r>
              <a:t>- results/data/deterministic_robustness_runs.csv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paired-seed design to explain why the controller comparison is fair.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results/figures/stochastic_robustness_chattering.png</a:t>
            </a:r>
          </a:p>
          <a:p xmlns:a="http://schemas.openxmlformats.org/drawingml/2006/main">
            <a:r>
              <a:t>- results/data/stochastic_robustness_summary.csv</a:t>
            </a:r>
          </a:p>
          <a:p xmlns:a="http://schemas.openxmlformats.org/drawingml/2006/main">
            <a:r>
              <a:t>- results/data/stochastic_robustness_trials.csv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Completed does not mean successful; retain the 2 failed completed runs.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results/figures/cartesian_tasks_paths.png</a:t>
            </a:r>
          </a:p>
          <a:p xmlns:a="http://schemas.openxmlformats.org/drawingml/2006/main">
            <a:r>
              <a:t>- results/data/cartesian_tasks_runs.csv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independent formulation from independent physical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results/data/simulink_cross_validation.mat</a:t>
            </a:r>
          </a:p>
          <a:p xmlns:a="http://schemas.openxmlformats.org/drawingml/2006/main">
            <a:r>
              <a:t>- results/data/multibody_cross_validation.mat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 a conditional conclusion, not a universal-controller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results/report/report_evidence.json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opening: the low-level layer is validated for simulation and bounded next research is clear.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docs/report/technical_report.md</a:t>
            </a:r>
          </a:p>
          <a:p xmlns:a="http://schemas.openxmlformats.org/drawingml/2006/main">
            <a:r>
              <a:t>- docs/report/references.json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Id1" /><Relationship Type="http://schemas.openxmlformats.org/officeDocument/2006/relationships/slideLayout" Target="/ppt/slideLayouts/slideLayout1.xml" Id="rId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.png" Id="rId2" /><Relationship Type="http://schemas.openxmlformats.org/officeDocument/2006/relationships/notesSlide" Target="/ppt/notesSlides/notesSlide1.xml" Id="rI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2.png" Id="rId2" /><Relationship Type="http://schemas.openxmlformats.org/officeDocument/2006/relationships/notesSlide" Target="/ppt/notesSlides/notesSlide2.xml" Id="rI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3.xml" Id="rI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3.png" Id="rId2" /><Relationship Type="http://schemas.openxmlformats.org/officeDocument/2006/relationships/notesSlide" Target="/ppt/notesSlides/notesSlide4.xml" Id="rI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4.png" Id="rId2" /><Relationship Type="http://schemas.openxmlformats.org/officeDocument/2006/relationships/notesSlide" Target="/ppt/notesSlides/notesSlide5.xml" Id="rI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5.png" Id="rId2" /><Relationship Type="http://schemas.openxmlformats.org/officeDocument/2006/relationships/notesSlide" Target="/ppt/notesSlides/notesSlide6.xml" Id="rI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6.png" Id="rId2" /><Relationship Type="http://schemas.openxmlformats.org/officeDocument/2006/relationships/notesSlide" Target="/ppt/notesSlides/notesSlide7.xml" Id="rI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8.xml" Id="rI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9.xml" Id="rId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notesSlide" Target="/ppt/notesSlides/notesSlide10.xml" Id="rI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6477000" y="1471702"/>
            <a:ext cx="5143500" cy="3571696"/>
          </a:xfrm>
          <a:prstGeom xmlns:a="http://schemas.openxmlformats.org/drawingml/2006/main" prst="rect">
            <a:avLst/>
          </a:prstGeom>
        </p:spPr>
      </p:pic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19250"/>
            <a:ext cx="5334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Reliable control enables action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533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Evidence-grounded PID and Fuzzy-PID evaluation for a 2-link manipulator</a:t>
            </a:r>
          </a:p>
        </p:txBody>
      </p:sp>
    </p:spTree>
    <p:extLst>
      <p:ext uri="{BB962C8B-B14F-4D97-AF65-F5344CB8AC3E}">
        <p14:creationId xmlns:p14="http://schemas.microsoft.com/office/powerpoint/2010/main" val="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success does not prove reliable manipulation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34837"/>
            <a:ext cx="5715000" cy="3635976"/>
          </a:xfrm>
          <a:prstGeom xmlns:a="http://schemas.openxmlformats.org/drawingml/2006/main" prst="rect">
            <a:avLst/>
          </a:prstGeom>
        </p:spPr>
      </p:pic>
      <p:sp>
        <p:nvSpPr>
          <p:cNvPr id="3" name="problem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Controller choice must survive changes in payload, configuration, noise, disturbance, and actuator authority.</a:t>
            </a:r>
          </a:p>
        </p:txBody>
      </p:sp>
      <p:sp>
        <p:nvSpPr>
          <p:cNvPr id="4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controller can pass one nominal trajectory and still fail when uncertainties interact.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study therefore reports failed completed runs instead of filtering them from averages.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conclusions are simulation-only; no hardware safety or fidelity claim is made.</a:t>
            </a:r>
          </a:p>
        </p:txBody>
      </p:sp>
    </p:spTree>
    <p:extLst>
      <p:ext uri="{BB962C8B-B14F-4D97-AF65-F5344CB8AC3E}">
        <p14:creationId xmlns:p14="http://schemas.microsoft.com/office/powerpoint/2010/main" val="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controller follows the same protocol</a:t>
            </a:r>
          </a:p>
        </p:txBody>
      </p:sp>
      <p:sp>
        <p:nvSpPr>
          <p:cNvPr id="2" name="protocol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0.001 s</a:t>
            </a:r>
          </a:p>
        </p:txBody>
      </p:sp>
      <p:sp>
        <p:nvSpPr>
          <p:cNvPr id="3" name="protocol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fixed sample time</a:t>
            </a:r>
          </a:p>
        </p:txBody>
      </p:sp>
      <p:sp>
        <p:nvSpPr>
          <p:cNvPr id="4" name="protocol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5.0 s</a:t>
            </a:r>
          </a:p>
        </p:txBody>
      </p:sp>
      <p:sp>
        <p:nvSpPr>
          <p:cNvPr id="5" name="protocol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duration</a:t>
            </a:r>
          </a:p>
        </p:txBody>
      </p:sp>
      <p:sp>
        <p:nvSpPr>
          <p:cNvPr id="6" name="protocol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5001</a:t>
            </a:r>
          </a:p>
        </p:txBody>
      </p:sp>
      <p:sp>
        <p:nvSpPr>
          <p:cNvPr id="7" name="protocol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samples per nominal run</a:t>
            </a:r>
          </a:p>
        </p:txBody>
      </p:sp>
      <p:sp>
        <p:nvSpPr>
          <p:cNvPr id="8" name="protocol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PID, Mamdani Fuzzy-PID, and optimized PID use identical robot parameters, torque limits, trajectories, thresholds, and random seeds.</a:t>
            </a:r>
          </a:p>
        </p:txBody>
      </p:sp>
    </p:spTree>
    <p:extLst>
      <p:ext uri="{BB962C8B-B14F-4D97-AF65-F5344CB8AC3E}">
        <p14:creationId xmlns:p14="http://schemas.microsoft.com/office/powerpoint/2010/main" val="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Optimization improves PID under a fixed protocol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06467"/>
            <a:ext cx="5715000" cy="3692717"/>
          </a:xfrm>
          <a:prstGeom xmlns:a="http://schemas.openxmlformats.org/drawingml/2006/main" prst="rect">
            <a:avLst/>
          </a:prstGeom>
        </p:spPr>
      </p:pic>
      <p:sp>
        <p:nvSpPr>
          <p:cNvPr id="3" name="optimization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Optimization lowers the nominal objective 7.283% and the held-out payload objective from 0.214504 to 0.197284.</a:t>
            </a:r>
          </a:p>
        </p:txBody>
      </p:sp>
      <p:sp>
        <p:nvSpPr>
          <p:cNvPr id="4" name="optimization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search converges with exit flag 1 after 12 iterations and 96 evaluations.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PID gains change; the plant, torque limits, trajectory, objective, and evaluation thresholds remain fixed.</a:t>
            </a:r>
          </a:p>
        </p:txBody>
      </p:sp>
    </p:spTree>
    <p:extLst>
      <p:ext uri="{BB962C8B-B14F-4D97-AF65-F5344CB8AC3E}">
        <p14:creationId xmlns:p14="http://schemas.microsoft.com/office/powerpoint/2010/main" val="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Deterministic stress separates controller reliability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1719328"/>
            <a:ext cx="5715000" cy="3666995"/>
          </a:xfrm>
          <a:prstGeom xmlns:a="http://schemas.openxmlformats.org/drawingml/2006/main" prst="rect">
            <a:avLst/>
          </a:prstGeom>
        </p:spPr>
      </p:pic>
      <p:sp>
        <p:nvSpPr>
          <p:cNvPr id="3" name="deterministic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Success rises from 8/13 for manual PID to 9/13 for Fuzzy-PID and 10/13 for optimized PID.</a:t>
            </a:r>
          </a:p>
        </p:txBody>
      </p:sp>
      <p:sp>
        <p:nvSpPr>
          <p:cNvPr id="4" name="deterministic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matrix contains 39 controller-scenario runs across nominal, payload, configuration, uncertainty, disturbance, actuator, and combined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fail the combined deterministic case, so the ranking is comparative rather than a safety guarantee.</a:t>
            </a:r>
          </a:p>
        </p:txBody>
      </p:sp>
    </p:spTree>
    <p:extLst>
      <p:ext uri="{BB962C8B-B14F-4D97-AF65-F5344CB8AC3E}">
        <p14:creationId xmlns:p14="http://schemas.microsoft.com/office/powerpoint/2010/main" val="28"/>
      </p:ext>
    </p:extLst>
  </p:cSld>
</p:sld>
</file>

<file path=ppt/slides/slide6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5" name="slide-6-title">
            <ns1:extLst>
              <ns1:ext uri="{FF2B5EF4-FFF2-40B4-BE49-F238E27FC236}">
                <ns2:creationId id="{00000000-0000-0000-0000-000000000029}"/>
              </ns1:ext>
            </ns1:extLst>
          </ns0:cNvPr>
          <ns0:cNvSpPr>
            <ns1:spLocks noGrp="1"/>
          </ns0:cNvSpPr>
          <ns0:nvPr/>
        </ns0:nvSpPr>
        <ns0:spPr>
          <ns1:xfrm>
            <ns1:off x="495300" y="323850"/>
            <ns1:ext cx="11125200" cy="6858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>
            <ns1:normAutofit fontScale="98501"/>
          </ns1:bodyPr>
          <ns1:lstStyle/>
          <ns1:p>
            <ns1:pPr>
              <ns1:defRPr sz="3600" b="1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3600" b="1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Noise alone is manageable; combined stress is not</ns1:t>
            </ns1:r>
          </ns1:p>
        </ns0:txBody>
      </ns0:sp>
      <ns0:pic>
        <ns0:nvPicPr>
          <ns0:cNvPr id="6" name=""/>
          <ns0:cNvPicPr>
            <ns1:picLocks noChangeAspect="1"/>
          </ns0:cNvPicPr>
          <ns0:nvPr/>
        </ns0:nvPicPr>
        <ns0:blipFill>
          <ns1:blip ns3:embed="rId2"/>
          <ns1:stretch/>
        </ns0:blipFill>
        <ns0:spPr>
          <ns1:xfrm>
            <ns1:off x="5905500" y="1695364"/>
            <ns1:ext cx="5715000" cy="3714922"/>
          </ns1:xfrm>
          <ns1:prstGeom prst="rect">
            <ns1:avLst/>
          </ns1:prstGeom>
        </ns0:spPr>
      </ns0:pic>
      <ns0:sp>
        <ns0:nvSpPr>
          <ns0:cNvPr id="3" name="stochastic-claim">
            <ns1:extLst>
              <ns1:ext uri="{FF2B5EF4-FFF2-40B4-BE49-F238E27FC236}">
                <ns2:creationId id="{00000000-0000-0000-0000-000000000030}"/>
              </ns1:ext>
            </ns1:extLst>
          </ns0:cNvPr>
          <ns0:cNvSpPr>
            <ns1:spLocks noGrp="1"/>
          </ns0:cNvSpPr>
          <ns0:nvPr/>
        </ns0:nvSpPr>
        <ns0:spPr>
          <ns1:xfrm>
            <ns1:off x="495300" y="1714500"/>
            <ns1:ext cx="5143500" cy="15240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anchor="t">
            <ns1:normAutofit fontScale="100000"/>
          </ns1:bodyPr>
          <ns1:lstStyle/>
          <ns1:p>
            <ns1:pPr algn="l">
              <ns1:defRPr sz="2400" b="1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2400" b="1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Each isolated-noise cell passes 30/30 paired trials, while every combined-stress cell passes 0/30.</ns1:t>
            </ns1:r>
          </ns1:p>
        </ns0:txBody>
      </ns0:sp>
      <ns0:sp>
        <ns0:nvSpPr>
          <ns0:cNvPr id="4" name="stochastic-body">
            <ns1:extLst>
              <ns1:ext uri="{FF2B5EF4-FFF2-40B4-BE49-F238E27FC236}">
                <ns2:creationId id="{00000000-0000-0000-0000-000000000031}"/>
              </ns1:ext>
            </ns1:extLst>
          </ns0:cNvPr>
          <ns0:cNvSpPr>
            <ns1:spLocks noGrp="1"/>
          </ns0:cNvSpPr>
          <ns0:nvPr/>
        </ns0:nvSpPr>
        <ns0:spPr>
          <ns1:xfrm>
            <ns1:off x="495300" y="3429000"/>
            <ns1:ext cx="5143500" cy="23622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anchor="t">
            <ns1:normAutofit fontScale="100000"/>
          </ns1:bodyPr>
          <ns1:lstStyle/>
          <ns1:p>
            <ns1:pPr algn="l">
              <ns1:defRPr sz="1800" b="0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1800" b="0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Study: 360 trials (4 scenarios x 3 controllers x 30 fixed seeds).</ns1:t>
            </ns1:r>
          </ns1:p>
          <ns1:p>
            <ns1:r>
              <ns1:t/>
            </ns1:r>
          </ns1:p>
          <ns1:p>
            <ns1:pPr algn="l">
              <ns1:defRPr sz="1800" b="0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1800" b="0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At high noise, optimized PID has the lowest tracking error but the highest mean torque slew (2888.34 N m/s).</ns1:t>
            </ns1:r>
          </ns1:p>
        </ns0:txBody>
      </ns0:sp>
    </ns0:spTree>
    <ns0:extLst>
      <ns0:ext uri="{BB962C8B-B14F-4D97-AF65-F5344CB8AC3E}">
        <ns4:creationId val="32"/>
      </ns0:ext>
    </ns0:extLst>
  </ns0:cSld>
</ns0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Task-space tests expose hidden failures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Id2"/>
          <a:stretch xmlns:a="http://schemas.openxmlformats.org/drawingml/2006/main"/>
        </p:blipFill>
        <p:spPr>
          <a:xfrm xmlns:a="http://schemas.openxmlformats.org/drawingml/2006/main">
            <a:off x="5905500" y="2195126"/>
            <a:ext cx="5715000" cy="2715397"/>
          </a:xfrm>
          <a:prstGeom xmlns:a="http://schemas.openxmlformats.org/drawingml/2006/main" prst="rect">
            <a:avLst/>
          </a:prstGeom>
        </p:spPr>
      </p:pic>
      <p:sp>
        <p:nvSpPr>
          <p:cNvPr id="3" name="cartesian-claim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5143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3 controllers pass straight-line; only optimized PID passes pick-transfer-place, so 4 of 6 task runs pass every gate.</a:t>
            </a:r>
          </a:p>
        </p:txBody>
      </p:sp>
      <p:sp>
        <p:nvSpPr>
          <p:cNvPr id="4" name="cartesian-body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5143500" cy="2362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and Fuzzy-PID complete the pick-transfer-place simulation but fail its quantitative pickup/place criteria.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records 0.01422 m RMS and 0.02970 m maximum Cartesian error.</a:t>
            </a:r>
          </a:p>
        </p:txBody>
      </p:sp>
    </p:spTree>
    <p:extLst>
      <p:ext uri="{BB962C8B-B14F-4D97-AF65-F5344CB8AC3E}">
        <p14:creationId xmlns:p14="http://schemas.microsoft.com/office/powerpoint/2010/main" val="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3850"/>
            <a:ext cx="11125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Independent formulations agree numerically</a:t>
            </a:r>
          </a:p>
        </p:txBody>
      </p:sp>
      <p:sp>
        <p:nvSpPr>
          <p:cNvPr id="2" name="cross-validation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3" name="cross-validation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Simulink agreement and tracking passes</a:t>
            </a:r>
          </a:p>
        </p:txBody>
      </p:sp>
      <p:sp>
        <p:nvSpPr>
          <p:cNvPr id="4" name="cross-validation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2/2</a:t>
            </a:r>
          </a:p>
        </p:txBody>
      </p:sp>
      <p:sp>
        <p:nvSpPr>
          <p:cNvPr id="5" name="cross-validation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Multibody agreement and tracking passes</a:t>
            </a:r>
          </a:p>
        </p:txBody>
      </p:sp>
      <p:sp>
        <p:nvSpPr>
          <p:cNvPr id="6" name="cross-validation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3.34e-16 m</a:t>
            </a:r>
          </a:p>
        </p:txBody>
      </p:sp>
      <p:sp>
        <p:nvSpPr>
          <p:cNvPr id="7" name="cross-validation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worst end-effector difference</a:t>
            </a:r>
          </a:p>
        </p:txBody>
      </p:sp>
      <p:sp>
        <p:nvSpPr>
          <p:cNvPr id="8" name="cross-validation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result supports model consistency under one fixed protocol. Shared parameters and target trajectories mean it is not evidence of hardware fidelity.</a:t>
            </a:r>
          </a:p>
        </p:txBody>
      </p:sp>
    </p:spTree>
    <p:extLst>
      <p:ext uri="{BB962C8B-B14F-4D97-AF65-F5344CB8AC3E}">
        <p14:creationId xmlns:p14="http://schemas.microsoft.com/office/powerpoint/2010/main" val="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"/>
            <a:ext cx="111252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is the strongest reliability baseline</a:t>
            </a:r>
          </a:p>
        </p:txBody>
      </p:sp>
      <p:sp>
        <p:nvSpPr>
          <p:cNvPr id="2" name="conclusion-metric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8/13</a:t>
            </a:r>
          </a:p>
        </p:txBody>
      </p:sp>
      <p:sp>
        <p:nvSpPr>
          <p:cNvPr id="3" name="conclusion-metric-label-1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manual PID deterministic success</a:t>
            </a:r>
          </a:p>
        </p:txBody>
      </p:sp>
      <p:sp>
        <p:nvSpPr>
          <p:cNvPr id="4" name="conclusion-metric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9/13</a:t>
            </a:r>
          </a:p>
        </p:txBody>
      </p:sp>
      <p:sp>
        <p:nvSpPr>
          <p:cNvPr id="5" name="conclusion-metric-label-2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Fuzzy-PID deterministic success</a:t>
            </a:r>
          </a:p>
        </p:txBody>
      </p:sp>
      <p:sp>
        <p:nvSpPr>
          <p:cNvPr id="6" name="conclusion-metric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81250"/>
            <a:ext cx="3333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10/13</a:t>
            </a:r>
          </a:p>
        </p:txBody>
      </p:sp>
      <p:sp>
        <p:nvSpPr>
          <p:cNvPr id="7" name="conclusion-metric-label-3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optimized PID deterministic success</a:t>
            </a:r>
          </a:p>
        </p:txBody>
      </p:sp>
      <p:sp>
        <p:nvSpPr>
          <p:cNvPr id="8" name="conclusion-interpretation">
            <a:extLst xmlns:a="http://schemas.openxmlformats.org/drawingml/2006/main">
              <a:ext uri="{FF2B5EF4-FFF2-40B4-BE49-F238E27FC236}">
                <a16:creationId xmlns:a16="http://schemas.microsoft.com/office/drawing/2014/main" id="{00000000-0000-0000-0000-00000000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43500"/>
            <a:ext cx="1095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Nominal metrics are mixed across manual PID and Fuzzy-PID; optimized PID provides the best aggregate deterministic and Cartesian reliability, with a torque-slew trade-off under noise.</a:t>
            </a:r>
          </a:p>
        </p:txBody>
      </p:sp>
    </p:spTree>
    <p:extLst>
      <p:ext uri="{BB962C8B-B14F-4D97-AF65-F5344CB8AC3E}">
        <p14:creationId xmlns:p14="http://schemas.microsoft.com/office/powerpoint/2010/main" val="54"/>
      </p:ext>
    </p:extLst>
  </p:cSld>
</p:sld>
</file>

<file path=ppt/slides/slide10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4" name="slide-10-title">
            <ns1:extLst>
              <ns1:ext uri="{FF2B5EF4-FFF2-40B4-BE49-F238E27FC236}">
                <ns2:creationId id="{00000000-0000-0000-0000-000000000004}"/>
              </ns1:ext>
            </ns1:extLst>
          </ns0:cNvPr>
          <ns0:cNvSpPr>
            <ns1:spLocks noGrp="1"/>
          </ns0:cNvSpPr>
          <ns0:nvPr/>
        </ns0:nvSpPr>
        <ns0:spPr>
          <ns1:xfrm>
            <ns1:off x="495300" y="323850"/>
            <ns1:ext cx="11125200" cy="6858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>
            <ns1:normAutofit fontScale="100000"/>
          </ns1:bodyPr>
          <ns1:lstStyle/>
          <ns1:p>
            <ns1:pPr>
              <ns1:defRPr sz="3600" b="1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3600" b="1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Validated layer supports the next research step</ns1:t>
            </ns1:r>
          </ns1:p>
        </ns0:txBody>
      </ns0:sp>
      <ns0:sp>
        <ns0:nvSpPr>
          <ns0:cNvPr id="2" name="next-steps-lead">
            <ns1:extLst>
              <ns1:ext uri="{FF2B5EF4-FFF2-40B4-BE49-F238E27FC236}">
                <ns2:creationId id="{00000000-0000-0000-0000-000000000005}"/>
              </ns1:ext>
            </ns1:extLst>
          </ns0:cNvPr>
          <ns0:cNvSpPr>
            <ns1:spLocks noGrp="1"/>
          </ns0:cNvSpPr>
          <ns0:nvPr/>
        </ns0:nvSpPr>
        <ns0:spPr>
          <ns1:xfrm>
            <ns1:off x="495300" y="1524000"/>
            <ns1:ext cx="10668000" cy="133350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anchor="t">
            <ns1:normAutofit fontScale="86243"/>
          </ns1:bodyPr>
          <ns1:lstStyle/>
          <ns1:p>
            <ns1:pPr algn="l">
              <ns1:defRPr sz="3150" b="1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3150" b="1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The next milestone is to test whether the same evidence discipline survives contact with sensing, hardware uncertainty, and online safety constraints.</ns1:t>
            </ns1:r>
          </ns1:p>
        </ns0:txBody>
      </ns0:sp>
      <ns0:sp>
        <ns0:nvSpPr>
          <ns0:cNvPr id="3" name="next-steps-steps">
            <ns1:extLst>
              <ns1:ext uri="{FF2B5EF4-FFF2-40B4-BE49-F238E27FC236}">
                <ns2:creationId id="{00000000-0000-0000-0000-000000000006}"/>
              </ns1:ext>
            </ns1:extLst>
          </ns0:cNvPr>
          <ns0:cNvSpPr>
            <ns1:spLocks noGrp="1"/>
          </ns0:cNvSpPr>
          <ns0:nvPr/>
        </ns0:nvSpPr>
        <ns0:spPr>
          <ns1:xfrm>
            <ns1:off x="495300" y="3238500"/>
            <ns1:ext cx="10668000" cy="2571750"/>
          </ns1:xfrm>
          <ns1:prstGeom prst="rect">
            <ns1:avLst/>
          </ns1:prstGeom>
          <ns1:noFill/>
          <ns1:ln w="0">
            <ns1:noFill/>
            <ns1:prstDash val="solid"/>
          </ns1:ln>
        </ns0:spPr>
        <ns0:txBody>
          <ns1:bodyPr anchor="t">
            <ns1:normAutofit fontScale="100000"/>
          </ns1:bodyPr>
          <ns1:lstStyle/>
          <ns1:p>
            <ns1:pPr algn="l">
              <ns1:defRPr sz="2100" b="0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2100" b="0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1. Hardware-in-the-loop and physical-arm validation with calibrated uncertainty.</ns1:t>
            </ns1:r>
          </ns1:p>
          <ns1:p>
            <ns1:r>
              <ns1:t/>
            </ns1:r>
          </ns1:p>
          <ns1:p>
            <ns1:pPr algn="l">
              <ns1:defRPr sz="2100" b="0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2100" b="0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2. Perception and task-planning integration above the existing inner-loop controller layer.</ns1:t>
            </ns1:r>
          </ns1:p>
          <ns1:p>
            <ns1:r>
              <ns1:t/>
            </ns1:r>
          </ns1:p>
          <ns1:p>
            <ns1:pPr algn="l">
              <ns1:defRPr sz="2100" b="0">
                <ns1:solidFill>
                  <ns1:srgbClr val="000000"/>
                </ns1:solidFill>
                <ns1:latin typeface="Arial"/>
                <ns1:ea typeface="Arial"/>
                <ns1:cs typeface="Arial"/>
              </ns1:defRPr>
            </ns1:pPr>
            <ns1:r>
              <ns1:rPr sz="2100" b="0">
                <ns1:solidFill>
                  <ns1:srgbClr val="000000"/>
                </ns1:solidFill>
                <ns1:latin typeface="Arial"/>
                <ns1:ea typeface="Arial"/>
                <ns1:cs typeface="Arial"/>
              </ns1:rPr>
              <ns1:t>3. Online monitoring, collision avoidance, and explicit safety supervision before deployment.</ns1:t>
            </ns1:r>
          </ns1:p>
        </ns0:txBody>
      </ns0:sp>
    </ns0:spTree>
    <ns0:extLst>
      <ns0:ext uri="{BB962C8B-B14F-4D97-AF65-F5344CB8AC3E}">
        <ns3:creationId val="7"/>
      </ns0:ext>
    </ns0:extLst>
  </ns0:cSld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2026-08-21T00:00:00Z</dcterms:created>
  <dcterms:modified xsi:type="dcterms:W3CDTF">2026-08-21T00:00:00Z</dcterms:modified>
</coreProperties>
</file>